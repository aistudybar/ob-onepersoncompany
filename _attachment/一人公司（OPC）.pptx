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84" r:id="rId8"/>
    <p:sldId id="264" r:id="rId9"/>
    <p:sldId id="265" r:id="rId10"/>
    <p:sldId id="271" r:id="rId11"/>
    <p:sldId id="266" r:id="rId12"/>
    <p:sldId id="268" r:id="rId13"/>
    <p:sldId id="267" r:id="rId14"/>
    <p:sldId id="269" r:id="rId15"/>
    <p:sldId id="272" r:id="rId16"/>
    <p:sldId id="273" r:id="rId17"/>
    <p:sldId id="276" r:id="rId18"/>
    <p:sldId id="275" r:id="rId19"/>
    <p:sldId id="277" r:id="rId20"/>
    <p:sldId id="283" r:id="rId21"/>
    <p:sldId id="278" r:id="rId22"/>
    <p:sldId id="282" r:id="rId23"/>
    <p:sldId id="279" r:id="rId24"/>
    <p:sldId id="280" r:id="rId25"/>
    <p:sldId id="281" r:id="rId26"/>
    <p:sldId id="285" r:id="rId27"/>
    <p:sldId id="286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AD5B-A832-9EBA-BA4A-BDA1BCF70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2C474E-30FF-6DFE-F43C-4DA772290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3B1CE-50C6-8E46-FD29-FA27229F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A0E8-C436-88AE-A1FA-EC3ACE76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ADD8-BEEF-A899-9C25-22FF016A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898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6262-51F7-55CC-AF36-2FE0ABB5C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A85D4-94F8-51AF-0C72-0F8F1AB1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7C3E8-CD69-C023-8FE2-0CA7880F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872B-313A-E0EB-D2AB-EA280DCE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D45CF-B817-E3A6-6A31-59AC7320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28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5755D-25E6-D93F-8591-E7D04623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9E101-946E-BD0D-65D0-B4CD3BD51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9100-8A59-9971-C1B3-198F49C1F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74726-A830-2D67-843E-B59328A8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A05D-8823-57E2-D492-E44BB69F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2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A2F-8CB8-5931-7290-3DCC1273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A046-4968-2313-24B6-A188A777A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BB3E3-52D1-633D-EEA0-89BA68D78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F02DE-F2F3-1854-320B-DE727141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05B1B-1FA7-2F35-B652-C671A7F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C7FDF-F3F2-D318-8110-09BD18BC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58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4119-4158-BEE9-3AA4-C43C56209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63666-C5C2-C182-A861-9340CDF6A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23C5D-E8F6-6263-51F2-2D006F8F9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E01AA-B140-2F4C-FF55-095BDC5ED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2130E-F96D-F640-0E6F-79D050E7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BF572A-BD21-402E-2B9E-BB3A6BFE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A6DCB1-5777-8159-9801-4711637C6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E71817-75D7-A3D0-34D8-12853CC0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90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483B-2426-94FD-5F41-AE74284E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F91977-6739-5175-0ECA-E7274E98F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E14803-670B-0C3C-7B13-E45176BB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F57E61-4FDA-99D5-6ADF-418C33E7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290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6F455-B4B3-577F-B6B6-8F0074AA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437BBE-925D-8D3F-60A7-5768AAB6B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259E6-497B-E418-BDE8-7C5DAAE7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1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89B3-BA4B-B072-C741-4A4FF9950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84B1C-5A77-561E-D1C9-DCA4BE40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72AC4-6B52-1947-2B50-7F1A280AA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6FB76-2329-C09A-FE8C-92726711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D626-F76A-20DC-A1CF-2C576391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35FA8-E76F-BBD2-14F9-658A3C1EB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52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2BFB-7A19-1A1A-C179-1862F5BD5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201BE4-C220-9049-4A26-10F43D7EE0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D2D41-B115-8307-8CCB-86EC4C81B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6F71-9EA5-A0E2-E90E-E27422CC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07E2E-AFAC-0FA7-1F0B-21C1B9E1D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A3EB8-1239-0C3E-6F65-6293D9F3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A95-428E-8EA7-74E0-49BB04067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53440-D731-A162-1463-448366E6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608D7-C279-2CA7-B6DF-109F631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58310-04AA-4CBF-13FF-380F3D40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A012-CB5D-8D1B-9B89-7600CC0F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48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E24563-3E36-127A-DEE7-0061B57161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5F26D-F023-B0B3-49E1-1C82AC7B6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78EA0-D698-03B9-CDC0-FB71E43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F6626-8EC1-187F-2370-0E084B36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6F530-AC0B-6AA1-E095-ADC63445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27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699DA-2EB7-6BAB-9987-46E214F6E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569C1-F5F9-25E4-3E20-1FF2EE38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E8D6-1552-78EA-D606-4FAFA706A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4F68F-667C-44F2-BF6C-EF7AC8E97C48}" type="datetimeFigureOut">
              <a:rPr lang="zh-CN" altLang="en-US" smtClean="0"/>
              <a:t>2026/2/12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CD13C-6FE7-A42A-1F85-953AD7020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219D1-EE09-3030-7927-005599A7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9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5881" y="1149523"/>
            <a:ext cx="10840016" cy="2387600"/>
          </a:xfrm>
        </p:spPr>
        <p:txBody>
          <a:bodyPr anchor="ctr">
            <a:noAutofit/>
          </a:bodyPr>
          <a:lstStyle/>
          <a:p>
            <a:r>
              <a:rPr lang="zh-CN" altLang="en-US" sz="11000" b="1" dirty="0">
                <a:latin typeface="+mn-ea"/>
                <a:ea typeface="+mn-ea"/>
              </a:rPr>
              <a:t>一人公司（</a:t>
            </a:r>
            <a:r>
              <a:rPr lang="en-US" altLang="zh-CN" sz="11000" b="1" dirty="0">
                <a:latin typeface="+mn-ea"/>
                <a:ea typeface="+mn-ea"/>
              </a:rPr>
              <a:t>OPC</a:t>
            </a:r>
            <a:r>
              <a:rPr lang="zh-CN" altLang="en-US" sz="11000" b="1" dirty="0">
                <a:latin typeface="+mn-ea"/>
                <a:ea typeface="+mn-ea"/>
              </a:rPr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>
                <a:latin typeface="+mn-ea"/>
              </a:rPr>
              <a:t>（学、</a:t>
            </a:r>
            <a:r>
              <a:rPr lang="en-US" altLang="zh-CN" sz="9600" dirty="0">
                <a:latin typeface="+mn-ea"/>
              </a:rPr>
              <a:t>AI</a:t>
            </a:r>
            <a:r>
              <a:rPr lang="zh-CN" altLang="en-US" sz="9600" dirty="0">
                <a:latin typeface="+mn-ea"/>
              </a:rPr>
              <a:t>、赚）</a:t>
            </a:r>
          </a:p>
        </p:txBody>
      </p:sp>
    </p:spTree>
    <p:extLst>
      <p:ext uri="{BB962C8B-B14F-4D97-AF65-F5344CB8AC3E}">
        <p14:creationId xmlns:p14="http://schemas.microsoft.com/office/powerpoint/2010/main" val="3873543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3164" y="3510122"/>
            <a:ext cx="10251541" cy="2387600"/>
          </a:xfrm>
        </p:spPr>
        <p:txBody>
          <a:bodyPr anchor="ctr">
            <a:normAutofit/>
          </a:bodyPr>
          <a:lstStyle/>
          <a:p>
            <a:r>
              <a:rPr lang="zh-CN" altLang="en-US" dirty="0">
                <a:latin typeface="+mn-ea"/>
                <a:ea typeface="+mn-ea"/>
              </a:rPr>
              <a:t>第二大脑 增强版（</a:t>
            </a:r>
            <a:r>
              <a:rPr lang="en-US" altLang="zh-CN" dirty="0">
                <a:latin typeface="+mn-ea"/>
                <a:ea typeface="+mn-ea"/>
              </a:rPr>
              <a:t>CODE PRO</a:t>
            </a:r>
            <a:r>
              <a:rPr lang="zh-CN" altLang="en-US" dirty="0">
                <a:latin typeface="+mn-ea"/>
                <a:ea typeface="+mn-ea"/>
              </a:rPr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5237211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6000" dirty="0">
                <a:latin typeface="+mn-ea"/>
              </a:rPr>
              <a:t>（搜 </a:t>
            </a:r>
            <a:r>
              <a:rPr lang="zh-CN" altLang="en-US" sz="6000" dirty="0">
                <a:solidFill>
                  <a:srgbClr val="FFC000"/>
                </a:solidFill>
                <a:latin typeface="+mn-ea"/>
              </a:rPr>
              <a:t>学</a:t>
            </a:r>
            <a:r>
              <a:rPr lang="zh-CN" altLang="en-US" sz="6000" dirty="0">
                <a:latin typeface="+mn-ea"/>
              </a:rPr>
              <a:t> </a:t>
            </a:r>
            <a:r>
              <a:rPr lang="zh-CN" altLang="en-US" sz="6000" dirty="0">
                <a:solidFill>
                  <a:srgbClr val="FF0000"/>
                </a:solidFill>
                <a:latin typeface="+mn-ea"/>
              </a:rPr>
              <a:t>思</a:t>
            </a:r>
            <a:r>
              <a:rPr lang="zh-CN" altLang="en-US" sz="6000" dirty="0">
                <a:latin typeface="+mn-ea"/>
              </a:rPr>
              <a:t> </a:t>
            </a:r>
            <a:r>
              <a:rPr lang="zh-CN" altLang="en-US" sz="6000" dirty="0">
                <a:solidFill>
                  <a:srgbClr val="00B050"/>
                </a:solidFill>
                <a:latin typeface="+mn-ea"/>
              </a:rPr>
              <a:t>教</a:t>
            </a:r>
            <a:r>
              <a:rPr lang="zh-CN" altLang="en-US" sz="6000" dirty="0">
                <a:latin typeface="+mn-ea"/>
              </a:rPr>
              <a:t> 练 习 熟）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9AB7BC-8B98-826B-351E-0B7566A051B3}"/>
              </a:ext>
            </a:extLst>
          </p:cNvPr>
          <p:cNvSpPr txBox="1">
            <a:spLocks/>
          </p:cNvSpPr>
          <p:nvPr/>
        </p:nvSpPr>
        <p:spPr>
          <a:xfrm>
            <a:off x="1213164" y="155137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2000" b="1" dirty="0">
                <a:latin typeface="+mn-ea"/>
                <a:ea typeface="+mn-ea"/>
              </a:rPr>
              <a:t>学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D5FD84-F09B-66BF-6CDB-405205EED018}"/>
              </a:ext>
            </a:extLst>
          </p:cNvPr>
          <p:cNvSpPr txBox="1">
            <a:spLocks/>
          </p:cNvSpPr>
          <p:nvPr/>
        </p:nvSpPr>
        <p:spPr>
          <a:xfrm>
            <a:off x="446636" y="1783032"/>
            <a:ext cx="11298725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b="1" dirty="0">
                <a:latin typeface="+mn-ea"/>
                <a:ea typeface="+mn-ea"/>
              </a:rPr>
              <a:t>FAST  Learning &amp; Thinking</a:t>
            </a:r>
            <a:endParaRPr lang="zh-CN" altLang="en-US" sz="72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44360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AI</a:t>
            </a:r>
            <a:endParaRPr lang="zh-CN" altLang="en-US" sz="12000" b="1" dirty="0">
              <a:latin typeface="+mn-ea"/>
              <a:ea typeface="+mn-ea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 fontScale="92500"/>
          </a:bodyPr>
          <a:lstStyle/>
          <a:p>
            <a:r>
              <a:rPr lang="zh-CN" altLang="en-US" sz="9600" dirty="0">
                <a:latin typeface="+mn-ea"/>
              </a:rPr>
              <a:t>（</a:t>
            </a:r>
            <a:r>
              <a:rPr lang="en-US" altLang="zh-CN" sz="9600" dirty="0">
                <a:latin typeface="+mn-ea"/>
              </a:rPr>
              <a:t> Full Stack Tree </a:t>
            </a:r>
            <a:r>
              <a:rPr lang="zh-CN" altLang="en-US" sz="9600" dirty="0"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564850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zh-CN" altLang="en-US" sz="12000" b="1" dirty="0">
                <a:latin typeface="+mn-ea"/>
                <a:ea typeface="+mn-ea"/>
              </a:rPr>
              <a:t>赚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>
                <a:latin typeface="+mn-ea"/>
              </a:rPr>
              <a:t>（</a:t>
            </a:r>
            <a:r>
              <a:rPr lang="en-US" altLang="zh-CN" sz="9600" dirty="0">
                <a:latin typeface="+mn-ea"/>
              </a:rPr>
              <a:t> </a:t>
            </a:r>
            <a:r>
              <a:rPr lang="zh-CN" altLang="en-US" sz="9600" dirty="0">
                <a:latin typeface="+mn-ea"/>
              </a:rPr>
              <a:t>人气、</a:t>
            </a:r>
            <a:r>
              <a:rPr lang="en-US" altLang="zh-CN" sz="9600" dirty="0">
                <a:latin typeface="+mn-ea"/>
              </a:rPr>
              <a:t>$$$</a:t>
            </a:r>
            <a:r>
              <a:rPr lang="zh-CN" altLang="en-US" sz="9600" dirty="0"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131199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Notion</a:t>
            </a:r>
            <a:endParaRPr lang="zh-CN" altLang="en-US" sz="12000" b="1" dirty="0">
              <a:latin typeface="+mn-ea"/>
              <a:ea typeface="+mn-ea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en-US" altLang="zh-CN" sz="5000" dirty="0">
                <a:latin typeface="+mn-ea"/>
              </a:rPr>
              <a:t>【</a:t>
            </a:r>
            <a:r>
              <a:rPr lang="zh-CN" altLang="en-US" sz="5000" dirty="0">
                <a:latin typeface="+mn-ea"/>
              </a:rPr>
              <a:t>随手记</a:t>
            </a:r>
            <a:r>
              <a:rPr lang="en-US" altLang="zh-CN" sz="5000" dirty="0">
                <a:latin typeface="+mn-ea"/>
              </a:rPr>
              <a:t>】【</a:t>
            </a:r>
            <a:r>
              <a:rPr lang="zh-CN" altLang="en-US" sz="5000" dirty="0">
                <a:latin typeface="+mn-ea"/>
              </a:rPr>
              <a:t>日记</a:t>
            </a:r>
            <a:r>
              <a:rPr lang="en-US" altLang="zh-CN" sz="5000" dirty="0">
                <a:latin typeface="+mn-ea"/>
              </a:rPr>
              <a:t>】【GTD】【</a:t>
            </a:r>
            <a:r>
              <a:rPr lang="zh-CN" altLang="en-US" sz="5000" dirty="0">
                <a:latin typeface="+mn-ea"/>
              </a:rPr>
              <a:t>网络资源</a:t>
            </a:r>
            <a:r>
              <a:rPr lang="en-US" altLang="zh-CN" sz="5000" dirty="0">
                <a:latin typeface="+mn-ea"/>
              </a:rPr>
              <a:t>】</a:t>
            </a:r>
            <a:endParaRPr lang="zh-CN" altLang="en-US" sz="5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2134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OB</a:t>
            </a:r>
            <a:endParaRPr lang="zh-CN" altLang="en-US" sz="12000" b="1" dirty="0">
              <a:latin typeface="+mn-ea"/>
              <a:ea typeface="+mn-ea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3509963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>
                <a:latin typeface="+mn-ea"/>
              </a:rPr>
              <a:t>（知识库、知识图谱、链接）</a:t>
            </a:r>
          </a:p>
        </p:txBody>
      </p:sp>
    </p:spTree>
    <p:extLst>
      <p:ext uri="{BB962C8B-B14F-4D97-AF65-F5344CB8AC3E}">
        <p14:creationId xmlns:p14="http://schemas.microsoft.com/office/powerpoint/2010/main" val="389298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461459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7200" b="1" dirty="0" err="1">
                <a:latin typeface="+mn-ea"/>
                <a:ea typeface="+mn-ea"/>
              </a:rPr>
              <a:t>NotebookLM</a:t>
            </a:r>
            <a:br>
              <a:rPr lang="en-US" altLang="zh-CN" b="1" dirty="0">
                <a:latin typeface="+mn-ea"/>
                <a:ea typeface="+mn-ea"/>
              </a:rPr>
            </a:br>
            <a:r>
              <a:rPr lang="zh-CN" altLang="en-US" b="1" dirty="0">
                <a:latin typeface="+mn-ea"/>
                <a:ea typeface="+mn-ea"/>
              </a:rPr>
              <a:t>（</a:t>
            </a:r>
            <a:r>
              <a:rPr lang="en-US" altLang="zh-CN" b="1" dirty="0">
                <a:latin typeface="+mn-ea"/>
                <a:ea typeface="+mn-ea"/>
              </a:rPr>
              <a:t>AI</a:t>
            </a:r>
            <a:r>
              <a:rPr lang="zh-CN" altLang="en-US" b="1" dirty="0">
                <a:latin typeface="+mn-ea"/>
                <a:ea typeface="+mn-ea"/>
              </a:rPr>
              <a:t>学习助手！</a:t>
            </a:r>
            <a:r>
              <a:rPr lang="en-US" altLang="zh-CN" b="1" dirty="0">
                <a:latin typeface="+mn-ea"/>
                <a:ea typeface="+mn-ea"/>
              </a:rPr>
              <a:t>FAST L&amp;T</a:t>
            </a:r>
            <a:r>
              <a:rPr lang="zh-CN" altLang="en-US" b="1" dirty="0">
                <a:latin typeface="+mn-ea"/>
                <a:ea typeface="+mn-ea"/>
              </a:rPr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1F2B62-AC0C-0480-A37B-C6BB0164D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3509963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b="1" dirty="0">
                <a:latin typeface="+mn-ea"/>
              </a:rPr>
              <a:t>多账户、</a:t>
            </a:r>
            <a:r>
              <a:rPr lang="en-US" altLang="zh-CN" sz="5000" b="1" dirty="0">
                <a:latin typeface="+mn-ea"/>
              </a:rPr>
              <a:t>2</a:t>
            </a:r>
            <a:r>
              <a:rPr lang="zh-CN" altLang="en-US" sz="5000" b="1" dirty="0">
                <a:latin typeface="+mn-ea"/>
              </a:rPr>
              <a:t>分身、</a:t>
            </a:r>
            <a:r>
              <a:rPr lang="en-US" altLang="zh-CN" sz="5000" b="1" dirty="0">
                <a:latin typeface="+mn-ea"/>
              </a:rPr>
              <a:t>FAST</a:t>
            </a:r>
            <a:r>
              <a:rPr lang="zh-CN" altLang="en-US" sz="5000" b="1" dirty="0">
                <a:latin typeface="+mn-ea"/>
              </a:rPr>
              <a:t>笔记</a:t>
            </a:r>
            <a:endParaRPr lang="en-US" altLang="zh-CN" sz="5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14589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AI</a:t>
            </a:r>
            <a:r>
              <a:rPr lang="zh-CN" altLang="en-US" sz="12000" b="1" dirty="0">
                <a:latin typeface="+mn-ea"/>
                <a:ea typeface="+mn-ea"/>
              </a:rPr>
              <a:t>概念术语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>
                <a:latin typeface="+mn-ea"/>
              </a:rPr>
              <a:t>（</a:t>
            </a:r>
            <a:r>
              <a:rPr lang="en-US" altLang="zh-CN" sz="5000" dirty="0">
                <a:latin typeface="+mn-ea"/>
              </a:rPr>
              <a:t>Cutting-edge Terms</a:t>
            </a:r>
            <a:r>
              <a:rPr lang="zh-CN" altLang="en-US" sz="5000" dirty="0"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68533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AI</a:t>
            </a:r>
            <a:r>
              <a:rPr lang="zh-CN" altLang="en-US" sz="12000" b="1" dirty="0">
                <a:latin typeface="+mn-ea"/>
                <a:ea typeface="+mn-ea"/>
              </a:rPr>
              <a:t>工具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>
                <a:latin typeface="+mn-ea"/>
              </a:rPr>
              <a:t>（</a:t>
            </a:r>
            <a:r>
              <a:rPr lang="en-US" altLang="zh-CN" sz="5000" dirty="0">
                <a:latin typeface="+mn-ea"/>
              </a:rPr>
              <a:t>Cutting-edge Tools</a:t>
            </a:r>
            <a:r>
              <a:rPr lang="zh-CN" altLang="en-US" sz="5000" dirty="0"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99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1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>
                <a:solidFill>
                  <a:srgbClr val="00B050"/>
                </a:solidFill>
                <a:latin typeface="+mn-ea"/>
                <a:ea typeface="+mn-ea"/>
              </a:rPr>
              <a:t>n8n</a:t>
            </a:r>
            <a:endParaRPr lang="zh-CN" altLang="en-US" sz="12000" b="1" dirty="0">
              <a:solidFill>
                <a:srgbClr val="00B05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98743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AI</a:t>
            </a:r>
            <a:r>
              <a:rPr lang="zh-CN" altLang="en-US" sz="12000" b="1" dirty="0">
                <a:latin typeface="+mn-ea"/>
                <a:ea typeface="+mn-ea"/>
              </a:rPr>
              <a:t>应用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>
                <a:latin typeface="+mn-ea"/>
              </a:rPr>
              <a:t>（</a:t>
            </a:r>
            <a:r>
              <a:rPr lang="en-US" altLang="zh-CN" sz="5000" dirty="0">
                <a:latin typeface="+mn-ea"/>
              </a:rPr>
              <a:t>Cutting-edge Applications</a:t>
            </a:r>
            <a:r>
              <a:rPr lang="zh-CN" altLang="en-US" sz="5000" dirty="0">
                <a:latin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14853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>
                <a:latin typeface="+mn-ea"/>
                <a:ea typeface="+mn-ea"/>
              </a:rPr>
              <a:t>赚人气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2868707"/>
            <a:ext cx="11597488" cy="3459666"/>
          </a:xfrm>
        </p:spPr>
        <p:txBody>
          <a:bodyPr anchor="ctr">
            <a:normAutofit fontScale="92500" lnSpcReduction="10000"/>
          </a:bodyPr>
          <a:lstStyle/>
          <a:p>
            <a:r>
              <a:rPr lang="en-US" altLang="zh-CN" sz="5000" dirty="0">
                <a:latin typeface="+mn-ea"/>
              </a:rPr>
              <a:t>0</a:t>
            </a:r>
            <a:r>
              <a:rPr lang="zh-CN" altLang="en-US" sz="5000" dirty="0">
                <a:latin typeface="+mn-ea"/>
              </a:rPr>
              <a:t>）</a:t>
            </a:r>
            <a:r>
              <a:rPr lang="en-US" altLang="zh-CN" sz="5000" b="1" dirty="0">
                <a:solidFill>
                  <a:srgbClr val="FF0000"/>
                </a:solidFill>
                <a:latin typeface="+mn-ea"/>
              </a:rPr>
              <a:t>in4tree</a:t>
            </a:r>
            <a:r>
              <a:rPr lang="zh-CN" altLang="en-US" sz="5000" dirty="0">
                <a:latin typeface="+mn-ea"/>
              </a:rPr>
              <a:t>博客（</a:t>
            </a:r>
            <a:r>
              <a:rPr lang="en-US" altLang="zh-CN" sz="5000" dirty="0">
                <a:latin typeface="+mn-ea"/>
              </a:rPr>
              <a:t>SEO</a:t>
            </a:r>
            <a:r>
              <a:rPr lang="zh-CN" altLang="en-US" sz="5000" dirty="0">
                <a:latin typeface="+mn-ea"/>
              </a:rPr>
              <a:t>信息树）</a:t>
            </a:r>
            <a:endParaRPr lang="en-US" altLang="zh-CN" sz="5000" dirty="0">
              <a:latin typeface="+mn-ea"/>
            </a:endParaRPr>
          </a:p>
          <a:p>
            <a:endParaRPr lang="en-US" altLang="zh-CN" sz="5000" dirty="0">
              <a:latin typeface="+mn-ea"/>
            </a:endParaRPr>
          </a:p>
          <a:p>
            <a:r>
              <a:rPr lang="en-US" altLang="zh-CN" sz="5000" dirty="0">
                <a:latin typeface="+mn-ea"/>
              </a:rPr>
              <a:t>1</a:t>
            </a:r>
            <a:r>
              <a:rPr lang="zh-CN" altLang="en-US" sz="5000" dirty="0">
                <a:latin typeface="+mn-ea"/>
              </a:rPr>
              <a:t>）</a:t>
            </a:r>
            <a:r>
              <a:rPr lang="en-US" altLang="zh-CN" sz="5000" b="1" dirty="0" err="1">
                <a:solidFill>
                  <a:srgbClr val="FF0000"/>
                </a:solidFill>
                <a:latin typeface="+mn-ea"/>
              </a:rPr>
              <a:t>Youtube</a:t>
            </a:r>
            <a:r>
              <a:rPr lang="zh-CN" altLang="en-US" sz="5000" dirty="0">
                <a:latin typeface="+mn-ea"/>
              </a:rPr>
              <a:t>视频</a:t>
            </a:r>
            <a:endParaRPr lang="en-US" altLang="zh-CN" sz="5000" dirty="0">
              <a:latin typeface="+mn-ea"/>
            </a:endParaRPr>
          </a:p>
          <a:p>
            <a:endParaRPr lang="en-US" altLang="zh-CN" sz="5000" dirty="0">
              <a:latin typeface="+mn-ea"/>
            </a:endParaRPr>
          </a:p>
          <a:p>
            <a:r>
              <a:rPr lang="en-US" altLang="zh-CN" sz="5000" dirty="0">
                <a:latin typeface="+mn-ea"/>
              </a:rPr>
              <a:t>2</a:t>
            </a:r>
            <a:r>
              <a:rPr lang="zh-CN" altLang="en-US" sz="5000" dirty="0">
                <a:latin typeface="+mn-ea"/>
              </a:rPr>
              <a:t>）</a:t>
            </a:r>
            <a:r>
              <a:rPr lang="en-US" altLang="zh-CN" sz="5000" dirty="0" err="1">
                <a:latin typeface="+mn-ea"/>
              </a:rPr>
              <a:t>Tiktok</a:t>
            </a:r>
            <a:r>
              <a:rPr lang="zh-CN" altLang="en-US" sz="5000" dirty="0">
                <a:latin typeface="+mn-ea"/>
              </a:rPr>
              <a:t>、小红书、</a:t>
            </a:r>
            <a:r>
              <a:rPr lang="en-US" altLang="zh-CN" sz="5000" dirty="0">
                <a:latin typeface="+mn-ea"/>
              </a:rPr>
              <a:t>X</a:t>
            </a:r>
            <a:r>
              <a:rPr lang="zh-CN" altLang="en-US" sz="5000" dirty="0">
                <a:latin typeface="+mn-ea"/>
              </a:rPr>
              <a:t>、</a:t>
            </a:r>
            <a:r>
              <a:rPr lang="en-US" altLang="zh-CN" sz="5000" dirty="0">
                <a:latin typeface="+mn-ea"/>
              </a:rPr>
              <a:t>Meta</a:t>
            </a:r>
            <a:r>
              <a:rPr lang="zh-CN" altLang="en-US" sz="5000" dirty="0">
                <a:latin typeface="+mn-ea"/>
              </a:rPr>
              <a:t>、</a:t>
            </a:r>
            <a:r>
              <a:rPr lang="en-US" altLang="zh-CN" sz="5000" dirty="0">
                <a:latin typeface="+mn-ea"/>
              </a:rPr>
              <a:t>Reddit</a:t>
            </a:r>
            <a:r>
              <a:rPr lang="zh-CN" altLang="en-US" sz="5000" dirty="0">
                <a:latin typeface="+mn-ea"/>
              </a:rPr>
              <a:t>、、、</a:t>
            </a:r>
          </a:p>
        </p:txBody>
      </p:sp>
    </p:spTree>
    <p:extLst>
      <p:ext uri="{BB962C8B-B14F-4D97-AF65-F5344CB8AC3E}">
        <p14:creationId xmlns:p14="http://schemas.microsoft.com/office/powerpoint/2010/main" val="519541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>
                <a:latin typeface="+mn-ea"/>
                <a:ea typeface="+mn-ea"/>
              </a:rPr>
              <a:t>赚</a:t>
            </a:r>
            <a:r>
              <a:rPr lang="en-US" altLang="zh-CN" sz="12000" b="1" dirty="0">
                <a:latin typeface="+mn-ea"/>
                <a:ea typeface="+mn-ea"/>
              </a:rPr>
              <a:t>$$$</a:t>
            </a:r>
            <a:endParaRPr lang="zh-CN" altLang="en-US" sz="12000" b="1" dirty="0">
              <a:latin typeface="+mn-ea"/>
              <a:ea typeface="+mn-ea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859653"/>
            <a:ext cx="10853595" cy="3459666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4000" dirty="0">
                <a:latin typeface="+mn-ea"/>
              </a:rPr>
              <a:t>*** </a:t>
            </a:r>
            <a:r>
              <a:rPr lang="zh-CN" altLang="en-US" sz="4000" dirty="0">
                <a:latin typeface="+mn-ea"/>
              </a:rPr>
              <a:t>数字商品：</a:t>
            </a:r>
            <a:r>
              <a:rPr lang="zh-CN" altLang="en-US" sz="4000" dirty="0">
                <a:solidFill>
                  <a:srgbClr val="FF0000"/>
                </a:solidFill>
                <a:latin typeface="+mn-ea"/>
              </a:rPr>
              <a:t>笔记</a:t>
            </a:r>
            <a:r>
              <a:rPr lang="zh-CN" altLang="en-US" sz="4000" dirty="0">
                <a:latin typeface="+mn-ea"/>
              </a:rPr>
              <a:t>模板插件、</a:t>
            </a:r>
            <a:r>
              <a:rPr lang="zh-CN" altLang="en-US" sz="4000" dirty="0">
                <a:solidFill>
                  <a:srgbClr val="FF0000"/>
                </a:solidFill>
                <a:latin typeface="+mn-ea"/>
              </a:rPr>
              <a:t>课程</a:t>
            </a:r>
            <a:r>
              <a:rPr lang="zh-CN" altLang="en-US" sz="4000" dirty="0">
                <a:latin typeface="+mn-ea"/>
              </a:rPr>
              <a:t>、书、商城</a:t>
            </a:r>
            <a:endParaRPr lang="en-US" altLang="zh-CN" sz="4000" dirty="0">
              <a:latin typeface="+mn-ea"/>
            </a:endParaRPr>
          </a:p>
          <a:p>
            <a:endParaRPr lang="en-US" altLang="zh-CN" sz="4000" dirty="0">
              <a:latin typeface="+mn-ea"/>
            </a:endParaRPr>
          </a:p>
          <a:p>
            <a:pPr algn="l"/>
            <a:r>
              <a:rPr lang="en-US" altLang="zh-CN" sz="4000" dirty="0">
                <a:latin typeface="+mn-ea"/>
              </a:rPr>
              <a:t>** </a:t>
            </a:r>
            <a:r>
              <a:rPr lang="zh-CN" altLang="en-US" sz="4000" dirty="0">
                <a:latin typeface="+mn-ea"/>
              </a:rPr>
              <a:t>会员费</a:t>
            </a:r>
            <a:endParaRPr lang="en-US" altLang="zh-CN" sz="4000" dirty="0">
              <a:latin typeface="+mn-ea"/>
            </a:endParaRPr>
          </a:p>
          <a:p>
            <a:endParaRPr lang="en-US" altLang="zh-CN" sz="4000" dirty="0">
              <a:latin typeface="+mn-ea"/>
            </a:endParaRPr>
          </a:p>
          <a:p>
            <a:pPr algn="l"/>
            <a:r>
              <a:rPr lang="en-US" altLang="zh-CN" sz="4000" dirty="0">
                <a:latin typeface="+mn-ea"/>
              </a:rPr>
              <a:t>* </a:t>
            </a:r>
            <a:r>
              <a:rPr lang="zh-CN" altLang="en-US" sz="4000" dirty="0">
                <a:latin typeface="+mn-ea"/>
              </a:rPr>
              <a:t>营销联盟</a:t>
            </a:r>
          </a:p>
        </p:txBody>
      </p:sp>
    </p:spTree>
    <p:extLst>
      <p:ext uri="{BB962C8B-B14F-4D97-AF65-F5344CB8AC3E}">
        <p14:creationId xmlns:p14="http://schemas.microsoft.com/office/powerpoint/2010/main" val="2293454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4566" y="163214"/>
            <a:ext cx="11316832" cy="2387600"/>
          </a:xfrm>
        </p:spPr>
        <p:txBody>
          <a:bodyPr anchor="ctr">
            <a:normAutofit/>
          </a:bodyPr>
          <a:lstStyle/>
          <a:p>
            <a:r>
              <a:rPr lang="zh-CN" altLang="en-US" sz="8000" b="1" dirty="0">
                <a:solidFill>
                  <a:srgbClr val="00B050"/>
                </a:solidFill>
                <a:latin typeface="+mn-ea"/>
                <a:ea typeface="+mn-ea"/>
              </a:rPr>
              <a:t>最小产品：</a:t>
            </a:r>
            <a:r>
              <a:rPr lang="en-US" altLang="zh-CN" sz="8000" b="1" dirty="0">
                <a:solidFill>
                  <a:srgbClr val="00B050"/>
                </a:solidFill>
                <a:latin typeface="+mn-ea"/>
                <a:ea typeface="+mn-ea"/>
              </a:rPr>
              <a:t>FAST</a:t>
            </a:r>
            <a:r>
              <a:rPr lang="zh-CN" altLang="en-US" sz="8000" b="1" dirty="0">
                <a:solidFill>
                  <a:srgbClr val="00B050"/>
                </a:solidFill>
                <a:latin typeface="+mn-ea"/>
                <a:ea typeface="+mn-ea"/>
              </a:rPr>
              <a:t>全栈树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452247"/>
            <a:ext cx="10853595" cy="1313995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zh-CN" altLang="en-US" sz="4000" dirty="0">
                <a:latin typeface="+mn-ea"/>
              </a:rPr>
              <a:t>各领域全栈树知识笔记</a:t>
            </a:r>
            <a:endParaRPr lang="en-US" altLang="zh-CN" sz="4000" dirty="0">
              <a:latin typeface="+mn-ea"/>
            </a:endParaRPr>
          </a:p>
          <a:p>
            <a:pPr algn="r"/>
            <a:r>
              <a:rPr lang="en-US" altLang="zh-CN" sz="4000" dirty="0">
                <a:latin typeface="+mn-ea"/>
              </a:rPr>
              <a:t>-</a:t>
            </a:r>
            <a:r>
              <a:rPr lang="zh-CN" altLang="en-US" sz="3200" dirty="0">
                <a:latin typeface="+mn-ea"/>
              </a:rPr>
              <a:t>学习各领域知识的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</a:rPr>
              <a:t>第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</a:rPr>
              <a:t>0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</a:rPr>
              <a:t>步</a:t>
            </a:r>
            <a:r>
              <a:rPr lang="zh-CN" altLang="en-US" sz="3200" dirty="0">
                <a:latin typeface="+mn-ea"/>
              </a:rPr>
              <a:t>！</a:t>
            </a:r>
            <a:endParaRPr lang="en-US" altLang="zh-CN" sz="400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E0202-CFF6-893E-0656-625E6203D664}"/>
              </a:ext>
            </a:extLst>
          </p:cNvPr>
          <p:cNvSpPr txBox="1"/>
          <p:nvPr/>
        </p:nvSpPr>
        <p:spPr>
          <a:xfrm>
            <a:off x="669202" y="4315880"/>
            <a:ext cx="4925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+mn-ea"/>
              </a:rPr>
              <a:t>1</a:t>
            </a:r>
            <a:r>
              <a:rPr lang="zh-CN" altLang="en-US" dirty="0">
                <a:latin typeface="+mn-ea"/>
              </a:rPr>
              <a:t>）</a:t>
            </a:r>
            <a:r>
              <a:rPr lang="en-US" altLang="zh-CN" dirty="0">
                <a:latin typeface="+mn-ea"/>
              </a:rPr>
              <a:t>Notion</a:t>
            </a:r>
            <a:r>
              <a:rPr lang="zh-CN" altLang="en-US" dirty="0">
                <a:latin typeface="+mn-ea"/>
              </a:rPr>
              <a:t>和</a:t>
            </a:r>
            <a:r>
              <a:rPr lang="en-US" altLang="zh-CN" dirty="0">
                <a:latin typeface="+mn-ea"/>
              </a:rPr>
              <a:t>OB</a:t>
            </a:r>
            <a:r>
              <a:rPr lang="zh-CN" altLang="en-US" dirty="0">
                <a:latin typeface="+mn-ea"/>
              </a:rPr>
              <a:t>笔记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2</a:t>
            </a:r>
            <a:r>
              <a:rPr lang="zh-CN" altLang="en-US" dirty="0">
                <a:latin typeface="+mn-ea"/>
              </a:rPr>
              <a:t>）学习路径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3</a:t>
            </a:r>
            <a:r>
              <a:rPr lang="zh-CN" altLang="en-US" dirty="0">
                <a:latin typeface="+mn-ea"/>
              </a:rPr>
              <a:t>）测验题闪卡问答、双人问答播客视频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4</a:t>
            </a:r>
            <a:r>
              <a:rPr lang="zh-CN" altLang="en-US" dirty="0">
                <a:latin typeface="+mn-ea"/>
              </a:rPr>
              <a:t>）来源参考（</a:t>
            </a:r>
            <a:r>
              <a:rPr lang="en-US" altLang="zh-CN" dirty="0" err="1">
                <a:latin typeface="+mn-ea"/>
              </a:rPr>
              <a:t>Youtube</a:t>
            </a:r>
            <a:r>
              <a:rPr lang="zh-CN" altLang="en-US" dirty="0">
                <a:latin typeface="+mn-ea"/>
              </a:rPr>
              <a:t>索引推荐领域导航！）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B60B8-7559-9E05-0BC1-40C8B946D30F}"/>
              </a:ext>
            </a:extLst>
          </p:cNvPr>
          <p:cNvSpPr txBox="1"/>
          <p:nvPr/>
        </p:nvSpPr>
        <p:spPr>
          <a:xfrm>
            <a:off x="6226154" y="5267407"/>
            <a:ext cx="4722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+mn-ea"/>
              </a:rPr>
              <a:t>- </a:t>
            </a:r>
            <a:r>
              <a:rPr lang="zh-CN" altLang="en-US" dirty="0">
                <a:latin typeface="+mn-ea"/>
              </a:rPr>
              <a:t>制作简单、技术门槛要求低！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- AI</a:t>
            </a:r>
            <a:r>
              <a:rPr lang="zh-CN" altLang="en-US" dirty="0">
                <a:latin typeface="+mn-ea"/>
              </a:rPr>
              <a:t>自动化生成、不占用时间（副业赚钱！）</a:t>
            </a:r>
            <a:endParaRPr lang="en-US" altLang="zh-CN" dirty="0">
              <a:latin typeface="+mn-ea"/>
            </a:endParaRPr>
          </a:p>
          <a:p>
            <a:r>
              <a:rPr lang="en-US" altLang="zh-CN" dirty="0">
                <a:latin typeface="+mn-ea"/>
              </a:rPr>
              <a:t>- </a:t>
            </a:r>
            <a:r>
              <a:rPr lang="zh-CN" altLang="en-US" dirty="0">
                <a:latin typeface="+mn-ea"/>
              </a:rPr>
              <a:t>自己顺便扩展了各个领域知识面！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85872-F7E0-ECB9-B35A-2080D6D0BB00}"/>
              </a:ext>
            </a:extLst>
          </p:cNvPr>
          <p:cNvSpPr txBox="1"/>
          <p:nvPr/>
        </p:nvSpPr>
        <p:spPr>
          <a:xfrm>
            <a:off x="6226154" y="4315880"/>
            <a:ext cx="5296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赚人气：参考视频的评论中回复引流</a:t>
            </a:r>
            <a:endParaRPr lang="en-US" altLang="zh-CN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赚</a:t>
            </a:r>
            <a:r>
              <a:rPr lang="en-US" altLang="zh-CN" dirty="0">
                <a:latin typeface="+mn-ea"/>
              </a:rPr>
              <a:t>$$$</a:t>
            </a:r>
            <a:r>
              <a:rPr lang="zh-CN" altLang="en-US" dirty="0">
                <a:latin typeface="+mn-ea"/>
              </a:rPr>
              <a:t>：卖</a:t>
            </a:r>
            <a:r>
              <a:rPr lang="en-US" altLang="zh-CN" dirty="0">
                <a:latin typeface="+mn-ea"/>
              </a:rPr>
              <a:t>OB</a:t>
            </a:r>
            <a:r>
              <a:rPr lang="zh-CN" altLang="en-US" dirty="0">
                <a:latin typeface="+mn-ea"/>
              </a:rPr>
              <a:t>全栈树</a:t>
            </a:r>
            <a:r>
              <a:rPr lang="zh-CN" altLang="en-US" b="1" dirty="0">
                <a:solidFill>
                  <a:srgbClr val="FF0000"/>
                </a:solidFill>
                <a:latin typeface="+mn-ea"/>
              </a:rPr>
              <a:t>笔记</a:t>
            </a:r>
            <a:r>
              <a:rPr lang="zh-CN" altLang="en-US" dirty="0">
                <a:latin typeface="+mn-ea"/>
              </a:rPr>
              <a:t>！！！会员费！广告位</a:t>
            </a:r>
          </a:p>
        </p:txBody>
      </p:sp>
    </p:spTree>
    <p:extLst>
      <p:ext uri="{BB962C8B-B14F-4D97-AF65-F5344CB8AC3E}">
        <p14:creationId xmlns:p14="http://schemas.microsoft.com/office/powerpoint/2010/main" val="876508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9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$ </a:t>
            </a:r>
            <a:r>
              <a:rPr lang="zh-CN" altLang="en-US" sz="12000" b="1" dirty="0">
                <a:latin typeface="+mn-ea"/>
                <a:ea typeface="+mn-ea"/>
              </a:rPr>
              <a:t>电子书 </a:t>
            </a:r>
            <a:r>
              <a:rPr lang="en-US" altLang="zh-CN" sz="12000" b="1" dirty="0">
                <a:latin typeface="+mn-ea"/>
                <a:ea typeface="+mn-ea"/>
              </a:rPr>
              <a:t>$</a:t>
            </a:r>
            <a:endParaRPr lang="zh-CN" altLang="en-US" sz="120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2966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9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$ </a:t>
            </a:r>
            <a:r>
              <a:rPr lang="zh-CN" altLang="en-US" sz="12000" b="1" dirty="0">
                <a:latin typeface="+mn-ea"/>
                <a:ea typeface="+mn-ea"/>
              </a:rPr>
              <a:t>课程 </a:t>
            </a:r>
            <a:r>
              <a:rPr lang="en-US" altLang="zh-CN" sz="12000" b="1" dirty="0">
                <a:latin typeface="+mn-ea"/>
                <a:ea typeface="+mn-ea"/>
              </a:rPr>
              <a:t>$</a:t>
            </a:r>
            <a:endParaRPr lang="zh-CN" altLang="en-US" sz="120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88188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529769"/>
            <a:ext cx="9644958" cy="2387600"/>
          </a:xfrm>
        </p:spPr>
        <p:txBody>
          <a:bodyPr anchor="ctr">
            <a:normAutofit fontScale="90000"/>
          </a:bodyPr>
          <a:lstStyle/>
          <a:p>
            <a:r>
              <a:rPr lang="en-US" altLang="zh-CN" sz="12000" b="1" dirty="0">
                <a:latin typeface="+mn-ea"/>
                <a:ea typeface="+mn-ea"/>
              </a:rPr>
              <a:t>In4tree</a:t>
            </a:r>
            <a:br>
              <a:rPr lang="en-US" altLang="zh-CN" sz="12000" b="1" dirty="0">
                <a:latin typeface="+mn-ea"/>
                <a:ea typeface="+mn-ea"/>
              </a:rPr>
            </a:br>
            <a:r>
              <a:rPr lang="zh-CN" altLang="en-US" sz="12000" b="1" dirty="0">
                <a:latin typeface="+mn-ea"/>
                <a:ea typeface="+mn-ea"/>
              </a:rPr>
              <a:t>（信息树）</a:t>
            </a:r>
          </a:p>
        </p:txBody>
      </p:sp>
    </p:spTree>
    <p:extLst>
      <p:ext uri="{BB962C8B-B14F-4D97-AF65-F5344CB8AC3E}">
        <p14:creationId xmlns:p14="http://schemas.microsoft.com/office/powerpoint/2010/main" val="890280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457341"/>
            <a:ext cx="9644958" cy="2387600"/>
          </a:xfrm>
        </p:spPr>
        <p:txBody>
          <a:bodyPr anchor="ctr">
            <a:normAutofit fontScale="90000"/>
          </a:bodyPr>
          <a:lstStyle/>
          <a:p>
            <a:r>
              <a:rPr lang="en-US" altLang="zh-CN" sz="12000" b="1" dirty="0" err="1">
                <a:latin typeface="+mn-ea"/>
                <a:ea typeface="+mn-ea"/>
              </a:rPr>
              <a:t>Youtube</a:t>
            </a:r>
            <a:r>
              <a:rPr lang="en-US" altLang="zh-CN" sz="12000" b="1" dirty="0">
                <a:latin typeface="+mn-ea"/>
                <a:ea typeface="+mn-ea"/>
              </a:rPr>
              <a:t> #0</a:t>
            </a:r>
            <a:br>
              <a:rPr lang="en-US" altLang="zh-CN" sz="12000" b="1" dirty="0">
                <a:latin typeface="+mn-ea"/>
                <a:ea typeface="+mn-ea"/>
              </a:rPr>
            </a:br>
            <a:r>
              <a:rPr lang="en-US" altLang="zh-CN" sz="12000" b="1" dirty="0">
                <a:latin typeface="+mn-ea"/>
                <a:ea typeface="+mn-ea"/>
              </a:rPr>
              <a:t>OPC</a:t>
            </a:r>
            <a:endParaRPr lang="zh-CN" altLang="en-US" sz="120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6504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457341"/>
            <a:ext cx="9644958" cy="2387600"/>
          </a:xfrm>
        </p:spPr>
        <p:txBody>
          <a:bodyPr anchor="ctr">
            <a:normAutofit fontScale="90000"/>
          </a:bodyPr>
          <a:lstStyle/>
          <a:p>
            <a:r>
              <a:rPr lang="en-US" altLang="zh-CN" sz="12000" b="1" dirty="0" err="1">
                <a:latin typeface="+mn-ea"/>
                <a:ea typeface="+mn-ea"/>
              </a:rPr>
              <a:t>Youtube</a:t>
            </a:r>
            <a:r>
              <a:rPr lang="en-US" altLang="zh-CN" sz="12000" b="1" dirty="0">
                <a:latin typeface="+mn-ea"/>
                <a:ea typeface="+mn-ea"/>
              </a:rPr>
              <a:t> #1</a:t>
            </a:r>
            <a:br>
              <a:rPr lang="en-US" altLang="zh-CN" sz="12000" b="1" dirty="0">
                <a:latin typeface="+mn-ea"/>
                <a:ea typeface="+mn-ea"/>
              </a:rPr>
            </a:br>
            <a:r>
              <a:rPr lang="en-US" altLang="zh-CN" sz="12000" b="1" dirty="0">
                <a:latin typeface="+mn-ea"/>
                <a:ea typeface="+mn-ea"/>
              </a:rPr>
              <a:t>FAST</a:t>
            </a:r>
            <a:endParaRPr lang="zh-CN" altLang="en-US" sz="120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48213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551994"/>
            <a:ext cx="11389259" cy="2387600"/>
          </a:xfrm>
        </p:spPr>
        <p:txBody>
          <a:bodyPr anchor="ctr">
            <a:normAutofit/>
          </a:bodyPr>
          <a:lstStyle/>
          <a:p>
            <a:r>
              <a:rPr lang="zh-CN" altLang="en-US" sz="8000" b="1" dirty="0">
                <a:latin typeface="+mn-ea"/>
                <a:ea typeface="+mn-ea"/>
              </a:rPr>
              <a:t>知识库</a:t>
            </a:r>
            <a:r>
              <a:rPr lang="en-US" altLang="zh-CN" sz="8000" b="1" dirty="0">
                <a:latin typeface="+mn-ea"/>
                <a:ea typeface="+mn-ea"/>
              </a:rPr>
              <a:t>RAG</a:t>
            </a:r>
            <a:r>
              <a:rPr lang="zh-CN" altLang="en-US" sz="8000" b="1" dirty="0">
                <a:latin typeface="+mn-ea"/>
                <a:ea typeface="+mn-ea"/>
              </a:rPr>
              <a:t>（手臂！）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FA8A49-8178-6CDF-61E6-C6D5B0D00BDD}"/>
              </a:ext>
            </a:extLst>
          </p:cNvPr>
          <p:cNvSpPr txBox="1"/>
          <p:nvPr/>
        </p:nvSpPr>
        <p:spPr>
          <a:xfrm>
            <a:off x="3310621" y="2939594"/>
            <a:ext cx="557075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0" b="1" dirty="0"/>
              <a:t>数据收集、清洗</a:t>
            </a:r>
            <a:endParaRPr lang="en-US" altLang="zh-CN" sz="6000" b="1" dirty="0"/>
          </a:p>
          <a:p>
            <a:endParaRPr lang="en-US" altLang="zh-CN" sz="6000" b="1" dirty="0"/>
          </a:p>
          <a:p>
            <a:r>
              <a:rPr lang="zh-CN" altLang="en-US" sz="6000" b="1" dirty="0"/>
              <a:t>向量数据库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18758193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551994"/>
            <a:ext cx="11389259" cy="2387600"/>
          </a:xfrm>
        </p:spPr>
        <p:txBody>
          <a:bodyPr anchor="ctr">
            <a:normAutofit/>
          </a:bodyPr>
          <a:lstStyle/>
          <a:p>
            <a:r>
              <a:rPr lang="en-US" altLang="zh-CN" sz="8000" b="1" dirty="0">
                <a:latin typeface="+mn-ea"/>
                <a:ea typeface="+mn-ea"/>
              </a:rPr>
              <a:t>n8n</a:t>
            </a:r>
            <a:r>
              <a:rPr lang="zh-CN" altLang="en-US" sz="8000" b="1" dirty="0">
                <a:latin typeface="+mn-ea"/>
                <a:ea typeface="+mn-ea"/>
              </a:rPr>
              <a:t>：誊抄笔记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FA8A49-8178-6CDF-61E6-C6D5B0D00BDD}"/>
              </a:ext>
            </a:extLst>
          </p:cNvPr>
          <p:cNvSpPr txBox="1"/>
          <p:nvPr/>
        </p:nvSpPr>
        <p:spPr>
          <a:xfrm>
            <a:off x="1002296" y="2431762"/>
            <a:ext cx="101874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0" b="1" dirty="0">
                <a:latin typeface="+mn-ea"/>
              </a:rPr>
              <a:t>清洗、结构化：原始杂乱文本</a:t>
            </a:r>
            <a:endParaRPr lang="zh-CN" altLang="en-US" sz="600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9A6725-09EF-EA1B-32F1-707DE155238F}"/>
              </a:ext>
            </a:extLst>
          </p:cNvPr>
          <p:cNvSpPr txBox="1"/>
          <p:nvPr/>
        </p:nvSpPr>
        <p:spPr>
          <a:xfrm>
            <a:off x="3438861" y="3720689"/>
            <a:ext cx="531427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>
                <a:latin typeface="+mn-ea"/>
              </a:rPr>
              <a:t>网页</a:t>
            </a:r>
            <a:r>
              <a:rPr lang="en-US" altLang="zh-CN" sz="4000" b="1" dirty="0">
                <a:latin typeface="+mn-ea"/>
              </a:rPr>
              <a:t>URL》</a:t>
            </a:r>
            <a:r>
              <a:rPr lang="zh-CN" altLang="en-US" sz="4000" b="1" dirty="0">
                <a:latin typeface="+mn-ea"/>
              </a:rPr>
              <a:t>提取文本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视频</a:t>
            </a:r>
            <a:r>
              <a:rPr lang="en-US" altLang="zh-CN" sz="4000" b="1" dirty="0">
                <a:latin typeface="+mn-ea"/>
              </a:rPr>
              <a:t>URL》</a:t>
            </a:r>
            <a:r>
              <a:rPr lang="zh-CN" altLang="en-US" sz="4000" b="1" dirty="0">
                <a:latin typeface="+mn-ea"/>
              </a:rPr>
              <a:t>提取字幕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视频、音频</a:t>
            </a:r>
            <a:r>
              <a:rPr lang="en-US" altLang="zh-CN" sz="4000" b="1" dirty="0">
                <a:latin typeface="+mn-ea"/>
              </a:rPr>
              <a:t>》</a:t>
            </a:r>
            <a:r>
              <a:rPr lang="zh-CN" altLang="en-US" sz="4000" b="1" dirty="0">
                <a:latin typeface="+mn-ea"/>
              </a:rPr>
              <a:t>提取字幕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。。。</a:t>
            </a:r>
            <a:endParaRPr lang="zh-CN" altLang="en-US" sz="4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50286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1556929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7200" b="1" dirty="0">
                <a:latin typeface="+mn-ea"/>
                <a:ea typeface="+mn-ea"/>
              </a:rPr>
              <a:t>RAG+n8n</a:t>
            </a:r>
            <a:r>
              <a:rPr lang="zh-CN" altLang="en-US" sz="7200" b="1" dirty="0">
                <a:latin typeface="+mn-ea"/>
                <a:ea typeface="+mn-ea"/>
              </a:rPr>
              <a:t>：个人知识助手：</a:t>
            </a:r>
            <a:br>
              <a:rPr lang="en-US" altLang="zh-CN" b="1" dirty="0">
                <a:latin typeface="+mn-ea"/>
                <a:ea typeface="+mn-ea"/>
              </a:rPr>
            </a:br>
            <a:br>
              <a:rPr lang="en-US" altLang="zh-CN" b="1" dirty="0">
                <a:latin typeface="+mn-ea"/>
                <a:ea typeface="+mn-ea"/>
              </a:rPr>
            </a:br>
            <a:r>
              <a:rPr lang="zh-CN" altLang="en-US" b="1" dirty="0">
                <a:latin typeface="+mn-ea"/>
                <a:ea typeface="+mn-ea"/>
              </a:rPr>
              <a:t>生成专业提示词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02244F-47D4-D490-8F3D-B679EAAF32CD}"/>
              </a:ext>
            </a:extLst>
          </p:cNvPr>
          <p:cNvSpPr txBox="1"/>
          <p:nvPr/>
        </p:nvSpPr>
        <p:spPr>
          <a:xfrm>
            <a:off x="3449370" y="4173648"/>
            <a:ext cx="5739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+mn-ea"/>
              </a:rPr>
              <a:t>FAST</a:t>
            </a:r>
            <a:r>
              <a:rPr lang="zh-CN" altLang="en-US" b="1" dirty="0">
                <a:latin typeface="+mn-ea"/>
              </a:rPr>
              <a:t>全栈树（知识网：点线面及联系）</a:t>
            </a:r>
            <a:endParaRPr lang="en-US" altLang="zh-CN" b="1" dirty="0">
              <a:latin typeface="+mn-ea"/>
            </a:endParaRPr>
          </a:p>
          <a:p>
            <a:r>
              <a:rPr lang="zh-CN" altLang="en-US" b="1" dirty="0">
                <a:latin typeface="+mn-ea"/>
              </a:rPr>
              <a:t>。。。</a:t>
            </a:r>
          </a:p>
        </p:txBody>
      </p:sp>
    </p:spTree>
    <p:extLst>
      <p:ext uri="{BB962C8B-B14F-4D97-AF65-F5344CB8AC3E}">
        <p14:creationId xmlns:p14="http://schemas.microsoft.com/office/powerpoint/2010/main" val="2833158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959400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7200" b="1" dirty="0">
                <a:latin typeface="+mn-ea"/>
                <a:ea typeface="+mn-ea"/>
              </a:rPr>
              <a:t>RAG+n8n</a:t>
            </a:r>
            <a:r>
              <a:rPr lang="zh-CN" altLang="en-US" sz="7200" b="1" dirty="0">
                <a:latin typeface="+mn-ea"/>
                <a:ea typeface="+mn-ea"/>
              </a:rPr>
              <a:t>：个人知识助手：</a:t>
            </a:r>
            <a:br>
              <a:rPr lang="en-US" altLang="zh-CN" b="1" dirty="0">
                <a:latin typeface="+mn-ea"/>
                <a:ea typeface="+mn-ea"/>
              </a:rPr>
            </a:br>
            <a:br>
              <a:rPr lang="en-US" altLang="zh-CN" b="1" dirty="0">
                <a:latin typeface="+mn-ea"/>
                <a:ea typeface="+mn-ea"/>
              </a:rPr>
            </a:br>
            <a:r>
              <a:rPr lang="zh-CN" altLang="en-US" b="1" dirty="0">
                <a:latin typeface="+mn-ea"/>
                <a:ea typeface="+mn-ea"/>
              </a:rPr>
              <a:t>生成</a:t>
            </a:r>
            <a:r>
              <a:rPr lang="en-US" altLang="zh-CN" b="1" dirty="0">
                <a:latin typeface="+mn-ea"/>
                <a:ea typeface="+mn-ea"/>
              </a:rPr>
              <a:t>FAST</a:t>
            </a:r>
            <a:r>
              <a:rPr lang="zh-CN" altLang="en-US" b="1" dirty="0">
                <a:latin typeface="+mn-ea"/>
                <a:ea typeface="+mn-ea"/>
              </a:rPr>
              <a:t>笔记（手掌！！！）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A27A5-AC32-C35E-51D2-900AA09EE5DE}"/>
              </a:ext>
            </a:extLst>
          </p:cNvPr>
          <p:cNvSpPr txBox="1"/>
          <p:nvPr/>
        </p:nvSpPr>
        <p:spPr>
          <a:xfrm>
            <a:off x="3449370" y="3511001"/>
            <a:ext cx="834125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latin typeface="+mn-ea"/>
              </a:rPr>
              <a:t>一句话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上传文档</a:t>
            </a:r>
            <a:r>
              <a:rPr lang="en-US" altLang="zh-CN" sz="4000" b="1" dirty="0">
                <a:latin typeface="+mn-ea"/>
              </a:rPr>
              <a:t>OPC</a:t>
            </a:r>
            <a:r>
              <a:rPr lang="zh-CN" altLang="en-US" sz="4000" b="1" dirty="0">
                <a:latin typeface="+mn-ea"/>
              </a:rPr>
              <a:t>、</a:t>
            </a:r>
            <a:r>
              <a:rPr lang="en-US" altLang="zh-CN" sz="4000" b="1" dirty="0">
                <a:latin typeface="+mn-ea"/>
              </a:rPr>
              <a:t>FAST</a:t>
            </a:r>
            <a:r>
              <a:rPr lang="zh-CN" altLang="en-US" sz="4000" b="1" dirty="0">
                <a:latin typeface="+mn-ea"/>
              </a:rPr>
              <a:t>、、、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网页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视频</a:t>
            </a:r>
            <a:endParaRPr lang="en-US" altLang="zh-CN" sz="4000" b="1" dirty="0">
              <a:latin typeface="+mn-ea"/>
            </a:endParaRPr>
          </a:p>
          <a:p>
            <a:r>
              <a:rPr lang="zh-CN" altLang="en-US" sz="4000" b="1" dirty="0">
                <a:latin typeface="+mn-ea"/>
              </a:rPr>
              <a:t>。。。</a:t>
            </a:r>
          </a:p>
        </p:txBody>
      </p:sp>
    </p:spTree>
    <p:extLst>
      <p:ext uri="{BB962C8B-B14F-4D97-AF65-F5344CB8AC3E}">
        <p14:creationId xmlns:p14="http://schemas.microsoft.com/office/powerpoint/2010/main" val="1478696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685" y="1321539"/>
            <a:ext cx="11790629" cy="2387600"/>
          </a:xfrm>
        </p:spPr>
        <p:txBody>
          <a:bodyPr anchor="ctr">
            <a:noAutofit/>
          </a:bodyPr>
          <a:lstStyle/>
          <a:p>
            <a:r>
              <a:rPr lang="en-US" altLang="zh-CN" sz="6600" b="1" dirty="0">
                <a:latin typeface="+mn-ea"/>
                <a:ea typeface="+mn-ea"/>
              </a:rPr>
              <a:t>n8n </a:t>
            </a:r>
            <a:r>
              <a:rPr lang="zh-CN" altLang="en-US" sz="6600" b="1" dirty="0">
                <a:latin typeface="+mn-ea"/>
                <a:ea typeface="+mn-ea"/>
              </a:rPr>
              <a:t>：</a:t>
            </a:r>
            <a:r>
              <a:rPr lang="en-US" altLang="zh-CN" sz="6600" b="1" dirty="0">
                <a:latin typeface="+mn-ea"/>
                <a:ea typeface="+mn-ea"/>
              </a:rPr>
              <a:t>AIGC</a:t>
            </a:r>
            <a:r>
              <a:rPr lang="zh-CN" altLang="en-US" sz="6600" b="1" dirty="0">
                <a:latin typeface="+mn-ea"/>
                <a:ea typeface="+mn-ea"/>
              </a:rPr>
              <a:t>：生成文音图视商</a:t>
            </a:r>
            <a:br>
              <a:rPr lang="en-US" altLang="zh-CN" b="1" dirty="0">
                <a:latin typeface="+mn-ea"/>
                <a:ea typeface="+mn-ea"/>
              </a:rPr>
            </a:br>
            <a:br>
              <a:rPr lang="en-US" altLang="zh-CN" b="1" dirty="0">
                <a:latin typeface="+mn-ea"/>
                <a:ea typeface="+mn-ea"/>
              </a:rPr>
            </a:br>
            <a:r>
              <a:rPr lang="zh-CN" altLang="en-US" b="1" dirty="0">
                <a:latin typeface="+mn-ea"/>
                <a:ea typeface="+mn-ea"/>
              </a:rPr>
              <a:t>（手指！）</a:t>
            </a:r>
            <a:endParaRPr lang="zh-CN" altLang="en-US" sz="48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33590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1728944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8000" b="1" dirty="0">
                <a:latin typeface="+mn-ea"/>
                <a:ea typeface="+mn-ea"/>
              </a:rPr>
              <a:t>n8n</a:t>
            </a:r>
            <a:r>
              <a:rPr lang="zh-CN" altLang="en-US" sz="8000" b="1" dirty="0">
                <a:latin typeface="+mn-ea"/>
                <a:ea typeface="+mn-ea"/>
              </a:rPr>
              <a:t>：多平台发布管理</a:t>
            </a:r>
            <a:br>
              <a:rPr lang="en-US" altLang="zh-CN" b="1" dirty="0">
                <a:latin typeface="+mn-ea"/>
                <a:ea typeface="+mn-ea"/>
              </a:rPr>
            </a:br>
            <a:br>
              <a:rPr lang="en-US" altLang="zh-CN" b="1" dirty="0">
                <a:latin typeface="+mn-ea"/>
                <a:ea typeface="+mn-ea"/>
              </a:rPr>
            </a:br>
            <a:r>
              <a:rPr lang="zh-CN" altLang="en-US" b="1" dirty="0">
                <a:latin typeface="+mn-ea"/>
                <a:ea typeface="+mn-ea"/>
              </a:rPr>
              <a:t>（手套！）</a:t>
            </a:r>
            <a:endParaRPr lang="zh-CN" altLang="en-US" sz="48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232330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1149522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8000" b="1" dirty="0">
                <a:latin typeface="+mn-ea"/>
                <a:ea typeface="+mn-ea"/>
              </a:rPr>
              <a:t>n8n</a:t>
            </a:r>
            <a:r>
              <a:rPr lang="zh-CN" altLang="en-US" sz="8000" b="1" dirty="0">
                <a:latin typeface="+mn-ea"/>
                <a:ea typeface="+mn-ea"/>
              </a:rPr>
              <a:t>：</a:t>
            </a:r>
            <a:r>
              <a:rPr lang="en-US" altLang="zh-CN" sz="8000" b="1" dirty="0" err="1">
                <a:latin typeface="+mn-ea"/>
                <a:ea typeface="+mn-ea"/>
              </a:rPr>
              <a:t>Youtube</a:t>
            </a:r>
            <a:r>
              <a:rPr lang="zh-CN" altLang="en-US" sz="8000" b="1" dirty="0">
                <a:latin typeface="+mn-ea"/>
                <a:ea typeface="+mn-ea"/>
              </a:rPr>
              <a:t>情报分析</a:t>
            </a:r>
            <a:endParaRPr lang="zh-CN" altLang="en-US" sz="48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803347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370" y="1149522"/>
            <a:ext cx="11389259" cy="2387600"/>
          </a:xfrm>
        </p:spPr>
        <p:txBody>
          <a:bodyPr anchor="ctr">
            <a:noAutofit/>
          </a:bodyPr>
          <a:lstStyle/>
          <a:p>
            <a:r>
              <a:rPr lang="en-US" altLang="zh-CN" sz="8000" b="1" dirty="0">
                <a:latin typeface="+mn-ea"/>
                <a:ea typeface="+mn-ea"/>
              </a:rPr>
              <a:t>n8n</a:t>
            </a:r>
            <a:r>
              <a:rPr lang="zh-CN" altLang="en-US" sz="8000" b="1" dirty="0">
                <a:latin typeface="+mn-ea"/>
                <a:ea typeface="+mn-ea"/>
              </a:rPr>
              <a:t>：</a:t>
            </a:r>
            <a:r>
              <a:rPr lang="en-US" altLang="zh-CN" sz="8000" b="1" dirty="0" err="1">
                <a:latin typeface="+mn-ea"/>
                <a:ea typeface="+mn-ea"/>
              </a:rPr>
              <a:t>Youtube</a:t>
            </a:r>
            <a:r>
              <a:rPr lang="zh-CN" altLang="en-US" sz="8000" b="1" dirty="0">
                <a:latin typeface="+mn-ea"/>
                <a:ea typeface="+mn-ea"/>
              </a:rPr>
              <a:t>双人播客</a:t>
            </a:r>
            <a:endParaRPr lang="zh-CN" altLang="en-US" sz="48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1464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446</Words>
  <Application>Microsoft Office PowerPoint</Application>
  <PresentationFormat>Widescreen</PresentationFormat>
  <Paragraphs>75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等线</vt:lpstr>
      <vt:lpstr>等线 Light</vt:lpstr>
      <vt:lpstr>Arial</vt:lpstr>
      <vt:lpstr>Office Theme</vt:lpstr>
      <vt:lpstr>一人公司（OPC）</vt:lpstr>
      <vt:lpstr>第二大脑 增强版（CODE PRO）</vt:lpstr>
      <vt:lpstr>AI</vt:lpstr>
      <vt:lpstr>赚</vt:lpstr>
      <vt:lpstr>Notion</vt:lpstr>
      <vt:lpstr>OB</vt:lpstr>
      <vt:lpstr>NotebookLM （AI学习助手！FAST L&amp;T）</vt:lpstr>
      <vt:lpstr>AI概念术语</vt:lpstr>
      <vt:lpstr>AI工具</vt:lpstr>
      <vt:lpstr>n8n</vt:lpstr>
      <vt:lpstr>AI应用</vt:lpstr>
      <vt:lpstr>赚人气</vt:lpstr>
      <vt:lpstr>赚$$$</vt:lpstr>
      <vt:lpstr>最小产品：FAST全栈树</vt:lpstr>
      <vt:lpstr>$ 电子书 $</vt:lpstr>
      <vt:lpstr>$ 课程 $</vt:lpstr>
      <vt:lpstr>In4tree （信息树）</vt:lpstr>
      <vt:lpstr>Youtube #0 OPC</vt:lpstr>
      <vt:lpstr>Youtube #1 FAST</vt:lpstr>
      <vt:lpstr>知识库RAG（手臂！）</vt:lpstr>
      <vt:lpstr>n8n：誊抄笔记</vt:lpstr>
      <vt:lpstr>RAG+n8n：个人知识助手：  生成专业提示词</vt:lpstr>
      <vt:lpstr>RAG+n8n：个人知识助手：  生成FAST笔记（手掌！！！）</vt:lpstr>
      <vt:lpstr>n8n ：AIGC：生成文音图视商  （手指！）</vt:lpstr>
      <vt:lpstr>n8n：多平台发布管理  （手套！）</vt:lpstr>
      <vt:lpstr>n8n：Youtube情报分析</vt:lpstr>
      <vt:lpstr>n8n：Youtube双人播客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Robert</dc:creator>
  <cp:lastModifiedBy>Han Robert</cp:lastModifiedBy>
  <cp:revision>27</cp:revision>
  <cp:lastPrinted>2026-02-12T19:54:34Z</cp:lastPrinted>
  <dcterms:created xsi:type="dcterms:W3CDTF">2026-01-28T19:38:16Z</dcterms:created>
  <dcterms:modified xsi:type="dcterms:W3CDTF">2026-02-12T22:55:20Z</dcterms:modified>
</cp:coreProperties>
</file>